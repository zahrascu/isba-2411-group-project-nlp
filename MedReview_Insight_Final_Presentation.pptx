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ZfxE8eeZO9+mYba7VcQ7tKru9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14A7A0"/>
            </a:solidFill>
          </c:spPr>
          <c:cat>
            <c:strLit>
              <c:ptCount val="3"/>
              <c:pt idx="0">
                <c:v>Majority baseline</c:v>
              </c:pt>
              <c:pt idx="1">
                <c:v>Hybrid TF-IDF</c:v>
              </c:pt>
              <c:pt idx="2">
                <c:v>MiniLM + LogReg</c:v>
              </c:pt>
            </c:strLit>
          </c:cat>
          <c:val>
            <c:numLit>
              <c:formatCode>General</c:formatCode>
              <c:ptCount val="3"/>
              <c:pt idx="0">
                <c:v>65.9</c:v>
              </c:pt>
              <c:pt idx="1">
                <c:v>83.3</c:v>
              </c:pt>
              <c:pt idx="2">
                <c:v>61.7</c:v>
              </c:pt>
            </c:numLit>
          </c:val>
        </c:ser>
        <c:ser>
          <c:idx val="1"/>
          <c:order val="1"/>
          <c:tx>
            <c:v>Macro-F1 ×100</c:v>
          </c:tx>
          <c:spPr>
            <a:solidFill xmlns:a="http://schemas.openxmlformats.org/drawingml/2006/main">
              <a:srgbClr val="0E4564"/>
            </a:solidFill>
          </c:spPr>
          <c:cat>
            <c:strLit>
              <c:ptCount val="3"/>
              <c:pt idx="0">
                <c:v>Majority baseline</c:v>
              </c:pt>
              <c:pt idx="1">
                <c:v>Hybrid TF-IDF</c:v>
              </c:pt>
              <c:pt idx="2">
                <c:v>MiniLM + LogReg</c:v>
              </c:pt>
            </c:strLit>
          </c:cat>
          <c:val>
            <c:numLit>
              <c:formatCode>General</c:formatCode>
              <c:ptCount val="3"/>
              <c:pt idx="0">
                <c:v>26.5</c:v>
              </c:pt>
              <c:pt idx="1">
                <c:v>71</c:v>
              </c:pt>
              <c:pt idx="2">
                <c:v>52.4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5354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9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809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5354A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Open with the project promise: patient reviews contain useful experience signals, but the evidence is buried in unstructured text.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Project materials and final MedReview Insight notebook.</a:t>
            </a:r>
            <a:endParaRPr/>
          </a:p>
        </p:txBody>
      </p:sp>
      <p:sp>
        <p:nvSpPr>
          <p:cNvPr id="57" name="Google Shape;57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Zahra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The problem we wanted to address is that patient reviews contain a lot of information, but that information is mostly unstructured text.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 rating such as a 7 or an 8 tells us the overall score, but the written review can tell us </a:t>
            </a:r>
            <a:r>
              <a:rPr i="1" lang="en-US">
                <a:solidFill>
                  <a:schemeClr val="dk1"/>
                </a:solidFill>
              </a:rPr>
              <a:t>why</a:t>
            </a:r>
            <a:r>
              <a:rPr lang="en-US">
                <a:solidFill>
                  <a:schemeClr val="dk1"/>
                </a:solidFill>
              </a:rPr>
              <a:t> the patient gave that rating. For example, someone may say that a medication helped their symptoms but caused nausea.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>
                <a:solidFill>
                  <a:schemeClr val="dk1"/>
                </a:solidFill>
              </a:rPr>
              <a:t>When we have thousands of reviews, manually reading and comparing them becomes difficult. NLP gives us a way to systematically analyze those experiences.</a:t>
            </a:r>
            <a:endParaRPr/>
          </a:p>
        </p:txBody>
      </p:sp>
      <p:sp>
        <p:nvSpPr>
          <p:cNvPr id="75" name="Google Shape;7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Zahra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Make the distinction explicit: the project starts from the full Drugs.com train/test files, but uses focused samples for reproducible Colab experiments and fast app retrieval.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Drugs.com Medication Reviews Dataset (project-provided source files).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Final MedReview Insight notebook experiment configuration.</a:t>
            </a:r>
            <a:endParaRPr/>
          </a:p>
        </p:txBody>
      </p:sp>
      <p:sp>
        <p:nvSpPr>
          <p:cNvPr id="107" name="Google Shape;10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Zahra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Our approach has two major NLP components: classification and retrieval.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First, we clean the reviews and combine the medication, condition, and review text.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For classification, we use a hybrid TF-IDF representation. Word-level TF-IDF captures meaningful words and phrases, while character-level TF-IDF helps with things like misspellings, word variations, and medication names.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We then use a class-balanced averaged logistic classifier to predict satisfaction.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Separately, we use the MiniLM sentence-transformer model to create semantic embeddings. This allows us to retrieve reviews that have similar meanings, even if they don't use exactly the same words.</a:t>
            </a:r>
            <a:endParaRPr/>
          </a:p>
        </p:txBody>
      </p:sp>
      <p:sp>
        <p:nvSpPr>
          <p:cNvPr id="150" name="Google Shape;15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Varsha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Lead with the result: the hybrid TF-IDF classifier reached 83.3% accuracy and 0.710 Macro-F1. MiniLM remained valuable, but for retrieval rather than classification. Metrics were computed on the 15,000-review evaluation sample.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Final MedReview Insight notebook evaluation output.</a:t>
            </a:r>
            <a:endParaRPr/>
          </a:p>
        </p:txBody>
      </p:sp>
      <p:sp>
        <p:nvSpPr>
          <p:cNvPr id="187" name="Google Shape;18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Varsha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This is where our project moves from a machine learning model into an actual application.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A user enters a medication, condition, and patient review. The system then predicts the satisfaction level and provides the probabilities for each class.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It also identifies text features that contributed to the prediction. Then, using MiniLM embeddings, it retrieves similar patient reviews.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We designed the workflow around four steps: analyze, explain, retrieve, and ground. The idea is that the prediction should not just appear as a black-box answer. The user should be able to see supporting information from the patient-review dataset.</a:t>
            </a:r>
            <a:endParaRPr/>
          </a:p>
        </p:txBody>
      </p:sp>
      <p:sp>
        <p:nvSpPr>
          <p:cNvPr id="208" name="Google Shape;20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Krystle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Overall, our results show that NLP can successfully extract useful satisfaction signals from patient reviews.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One of our biggest findings is that the hybrid TF-IDF model works very well for classification, while MiniLM is more useful for finding semantically similar reviews.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By showing probabilities, key terms, and actual patient reviews instead of a black-box label, users can easily verify </a:t>
            </a:r>
            <a:r>
              <a:rPr i="1" lang="en-US" sz="1100">
                <a:solidFill>
                  <a:schemeClr val="dk1"/>
                </a:solidFill>
              </a:rPr>
              <a:t>why</a:t>
            </a:r>
            <a:r>
              <a:rPr lang="en-US" sz="1100">
                <a:solidFill>
                  <a:schemeClr val="dk1"/>
                </a:solidFill>
              </a:rPr>
              <a:t> a prediction was made.</a:t>
            </a:r>
            <a:endParaRPr/>
          </a:p>
        </p:txBody>
      </p:sp>
      <p:sp>
        <p:nvSpPr>
          <p:cNvPr id="248" name="Google Shape;24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" name="Google Shape;27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Krystle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However, there are important limitations. The medium class is the hardest to predict, probably because ratings from 5 to 6 can represent mixed experiences. Patient reviews can also be subjective, incomplete, misspelled, or sarcastic.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For future work, we would focus on probability calibration, evaluating the model across different medications and conditions, and analyzing high-confidence errors.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Most importantly, this system should be viewed as patient-experience analysis, not clinical evidence or medical advice.</a:t>
            </a:r>
            <a:endParaRPr/>
          </a:p>
        </p:txBody>
      </p:sp>
      <p:sp>
        <p:nvSpPr>
          <p:cNvPr id="271" name="Google Shape;27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7" name="Google Shape;30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Krystle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To summarize: MedReview Insight proves that matching the right NLP tool to the right job gets the best results—hybrid TF-IDF delivers accurate classification, while MiniLM gives us transparent, searchable evidence. It's a practical research tool designed to make patient experiences easier to analyze, without taking on the role of clinical decision-making.</a:t>
            </a:r>
            <a:endParaRPr/>
          </a:p>
        </p:txBody>
      </p:sp>
      <p:sp>
        <p:nvSpPr>
          <p:cNvPr id="308" name="Google Shape;30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Recommended delivery: show this screenshot first, then switch to the separate live demo. If the Colab tunnel or runtime fails, return to this slide and explain the same flow without losing time.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- MedReview Insight application screenshot generated by the project team, August 2026.</a:t>
            </a:r>
            <a:endParaRPr/>
          </a:p>
        </p:txBody>
      </p:sp>
      <p:sp>
        <p:nvSpPr>
          <p:cNvPr id="322" name="Google Shape;32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1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1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1" name="Google Shape;41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2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2B45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/>
          <p:nvPr/>
        </p:nvSpPr>
        <p:spPr>
          <a:xfrm>
            <a:off x="6858000" y="0"/>
            <a:ext cx="2286000" cy="2286000"/>
          </a:xfrm>
          <a:prstGeom prst="ellipse">
            <a:avLst/>
          </a:prstGeom>
          <a:solidFill>
            <a:srgbClr val="0E71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"/>
          <p:cNvSpPr/>
          <p:nvPr/>
        </p:nvSpPr>
        <p:spPr>
          <a:xfrm>
            <a:off x="7429500" y="0"/>
            <a:ext cx="1714500" cy="1714500"/>
          </a:xfrm>
          <a:prstGeom prst="ellipse">
            <a:avLst/>
          </a:prstGeom>
          <a:solidFill>
            <a:srgbClr val="1598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"/>
          <p:cNvSpPr/>
          <p:nvPr/>
        </p:nvSpPr>
        <p:spPr>
          <a:xfrm>
            <a:off x="552450" y="457200"/>
            <a:ext cx="4381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5ED8D0"/>
                </a:solidFill>
                <a:latin typeface="Arial"/>
                <a:ea typeface="Arial"/>
                <a:cs typeface="Arial"/>
                <a:sym typeface="Arial"/>
              </a:rPr>
              <a:t>PATIENT-REVIEW INTELLIGENCE</a:t>
            </a:r>
            <a:endParaRPr/>
          </a:p>
        </p:txBody>
      </p:sp>
      <p:pic>
        <p:nvPicPr>
          <p:cNvPr id="62" name="Google Shape;6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450" y="1057275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"/>
          <p:cNvSpPr/>
          <p:nvPr/>
        </p:nvSpPr>
        <p:spPr>
          <a:xfrm>
            <a:off x="1162050" y="1047750"/>
            <a:ext cx="6096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MedReview Insight</a:t>
            </a:r>
            <a:endParaRPr/>
          </a:p>
        </p:txBody>
      </p:sp>
      <p:sp>
        <p:nvSpPr>
          <p:cNvPr id="64" name="Google Shape;64;p1"/>
          <p:cNvSpPr/>
          <p:nvPr/>
        </p:nvSpPr>
        <p:spPr>
          <a:xfrm>
            <a:off x="552450" y="1847850"/>
            <a:ext cx="6191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AI-powered analysis of medication experiences</a:t>
            </a:r>
            <a:endParaRPr/>
          </a:p>
        </p:txBody>
      </p:sp>
      <p:sp>
        <p:nvSpPr>
          <p:cNvPr id="65" name="Google Shape;65;p1"/>
          <p:cNvSpPr/>
          <p:nvPr/>
        </p:nvSpPr>
        <p:spPr>
          <a:xfrm>
            <a:off x="552450" y="2266950"/>
            <a:ext cx="6858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CBE4EB"/>
                </a:solidFill>
                <a:latin typeface="Arial"/>
                <a:ea typeface="Arial"/>
                <a:cs typeface="Arial"/>
                <a:sym typeface="Arial"/>
              </a:rPr>
              <a:t>Predict satisfaction · explain language evidence · retrieve similar patient reviews</a:t>
            </a:r>
            <a:endParaRPr/>
          </a:p>
        </p:txBody>
      </p:sp>
      <p:sp>
        <p:nvSpPr>
          <p:cNvPr id="66" name="Google Shape;66;p1"/>
          <p:cNvSpPr/>
          <p:nvPr/>
        </p:nvSpPr>
        <p:spPr>
          <a:xfrm>
            <a:off x="552450" y="2952750"/>
            <a:ext cx="2000250" cy="400050"/>
          </a:xfrm>
          <a:prstGeom prst="roundRect">
            <a:avLst>
              <a:gd fmla="val 28571" name="adj"/>
            </a:avLst>
          </a:prstGeom>
          <a:solidFill>
            <a:srgbClr val="123F59"/>
          </a:solidFill>
          <a:ln cap="flat" cmpd="sng" w="9525">
            <a:solidFill>
              <a:srgbClr val="3D6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"/>
          <p:cNvSpPr/>
          <p:nvPr/>
        </p:nvSpPr>
        <p:spPr>
          <a:xfrm>
            <a:off x="704850" y="2952750"/>
            <a:ext cx="1695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Hybrid TF-IDF classifier</a:t>
            </a:r>
            <a:endParaRPr/>
          </a:p>
        </p:txBody>
      </p:sp>
      <p:sp>
        <p:nvSpPr>
          <p:cNvPr id="68" name="Google Shape;68;p1"/>
          <p:cNvSpPr/>
          <p:nvPr/>
        </p:nvSpPr>
        <p:spPr>
          <a:xfrm>
            <a:off x="2686050" y="2952750"/>
            <a:ext cx="2000250" cy="400050"/>
          </a:xfrm>
          <a:prstGeom prst="roundRect">
            <a:avLst>
              <a:gd fmla="val 28571" name="adj"/>
            </a:avLst>
          </a:prstGeom>
          <a:solidFill>
            <a:srgbClr val="123F59"/>
          </a:solidFill>
          <a:ln cap="flat" cmpd="sng" w="9525">
            <a:solidFill>
              <a:srgbClr val="3D6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"/>
          <p:cNvSpPr/>
          <p:nvPr/>
        </p:nvSpPr>
        <p:spPr>
          <a:xfrm>
            <a:off x="2838450" y="2952750"/>
            <a:ext cx="1695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MiniLM semantic retrieval</a:t>
            </a:r>
            <a:endParaRPr/>
          </a:p>
        </p:txBody>
      </p:sp>
      <p:sp>
        <p:nvSpPr>
          <p:cNvPr id="70" name="Google Shape;70;p1"/>
          <p:cNvSpPr/>
          <p:nvPr/>
        </p:nvSpPr>
        <p:spPr>
          <a:xfrm>
            <a:off x="552450" y="39624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5ED8D0"/>
                </a:solidFill>
                <a:latin typeface="Arial"/>
                <a:ea typeface="Arial"/>
                <a:cs typeface="Arial"/>
                <a:sym typeface="Arial"/>
              </a:rPr>
              <a:t>ISBA 2411 · Group 1</a:t>
            </a:r>
            <a:endParaRPr/>
          </a:p>
        </p:txBody>
      </p:sp>
      <p:sp>
        <p:nvSpPr>
          <p:cNvPr id="71" name="Google Shape;71;p1"/>
          <p:cNvSpPr/>
          <p:nvPr/>
        </p:nvSpPr>
        <p:spPr>
          <a:xfrm>
            <a:off x="552450" y="4286250"/>
            <a:ext cx="685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Zahra Fahimfar · Varsha Pai · Krystle Jozen Dario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AFB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"/>
          <p:cNvSpPr/>
          <p:nvPr/>
        </p:nvSpPr>
        <p:spPr>
          <a:xfrm>
            <a:off x="495300" y="2667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14A7A0"/>
                </a:solidFill>
                <a:latin typeface="Arial"/>
                <a:ea typeface="Arial"/>
                <a:cs typeface="Arial"/>
                <a:sym typeface="Arial"/>
              </a:rPr>
              <a:t>PROBLEM → OBJECTIVE</a:t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495300" y="485775"/>
            <a:ext cx="781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From thousands of reviews to usable evidence</a:t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495300" y="1009650"/>
            <a:ext cx="552450" cy="47625"/>
          </a:xfrm>
          <a:prstGeom prst="roundRect">
            <a:avLst>
              <a:gd fmla="val 50000" name="adj"/>
            </a:avLst>
          </a:prstGeom>
          <a:solidFill>
            <a:srgbClr val="FF62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8420100" y="323850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495300" y="1371600"/>
            <a:ext cx="2476500" cy="272415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9525">
            <a:solidFill>
              <a:srgbClr val="D9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495300" y="1371600"/>
            <a:ext cx="66675" cy="2724150"/>
          </a:xfrm>
          <a:prstGeom prst="roundRect">
            <a:avLst>
              <a:gd fmla="val 50000" name="adj"/>
            </a:avLst>
          </a:prstGeom>
          <a:solidFill>
            <a:srgbClr val="FF62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704850" y="1524000"/>
            <a:ext cx="21145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  <a:endParaRPr/>
          </a:p>
        </p:txBody>
      </p:sp>
      <p:sp>
        <p:nvSpPr>
          <p:cNvPr id="84" name="Google Shape;84;p2"/>
          <p:cNvSpPr/>
          <p:nvPr/>
        </p:nvSpPr>
        <p:spPr>
          <a:xfrm>
            <a:off x="704850" y="1847850"/>
            <a:ext cx="2095500" cy="2152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Medication reviews contain effectiveness, side effects, symptoms, and overall experience—but the information is unstructured and difficult to compare at scale.</a:t>
            </a:r>
            <a:endParaRPr/>
          </a:p>
        </p:txBody>
      </p:sp>
      <p:sp>
        <p:nvSpPr>
          <p:cNvPr id="85" name="Google Shape;85;p2"/>
          <p:cNvSpPr/>
          <p:nvPr/>
        </p:nvSpPr>
        <p:spPr>
          <a:xfrm>
            <a:off x="3114675" y="2324100"/>
            <a:ext cx="419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4A7A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86" name="Google Shape;86;p2"/>
          <p:cNvSpPr/>
          <p:nvPr/>
        </p:nvSpPr>
        <p:spPr>
          <a:xfrm>
            <a:off x="3676650" y="1371600"/>
            <a:ext cx="5029200" cy="1219200"/>
          </a:xfrm>
          <a:prstGeom prst="roundRect">
            <a:avLst>
              <a:gd fmla="val 9375" name="adj"/>
            </a:avLst>
          </a:prstGeom>
          <a:solidFill>
            <a:srgbClr val="FFFFFF"/>
          </a:solidFill>
          <a:ln cap="flat" cmpd="sng" w="9525">
            <a:solidFill>
              <a:srgbClr val="D9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"/>
          <p:cNvSpPr/>
          <p:nvPr/>
        </p:nvSpPr>
        <p:spPr>
          <a:xfrm>
            <a:off x="3676650" y="1371600"/>
            <a:ext cx="66675" cy="1219200"/>
          </a:xfrm>
          <a:prstGeom prst="roundRect">
            <a:avLst>
              <a:gd fmla="val 50000" name="adj"/>
            </a:avLst>
          </a:prstGeom>
          <a:solidFill>
            <a:srgbClr val="14A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3886200" y="1524000"/>
            <a:ext cx="4667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Our objective</a:t>
            </a: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3886200" y="1847850"/>
            <a:ext cx="4648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Use NLP to predict low / medium / high satisfaction from review text, then show the language and similar reviews supporting the result.</a:t>
            </a:r>
            <a:endParaRPr/>
          </a:p>
        </p:txBody>
      </p:sp>
      <p:sp>
        <p:nvSpPr>
          <p:cNvPr id="90" name="Google Shape;90;p2"/>
          <p:cNvSpPr/>
          <p:nvPr/>
        </p:nvSpPr>
        <p:spPr>
          <a:xfrm>
            <a:off x="3676650" y="2781300"/>
            <a:ext cx="1524000" cy="131445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9525">
            <a:solidFill>
              <a:srgbClr val="D9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3676650" y="2781300"/>
            <a:ext cx="66675" cy="1314450"/>
          </a:xfrm>
          <a:prstGeom prst="roundRect">
            <a:avLst>
              <a:gd fmla="val 50000" name="adj"/>
            </a:avLst>
          </a:prstGeom>
          <a:solidFill>
            <a:srgbClr val="14A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3886200" y="2933700"/>
            <a:ext cx="11620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CLASSIFY</a:t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3886200" y="3257550"/>
            <a:ext cx="1143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Satisfaction from patient-written language.</a:t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5429250" y="2781300"/>
            <a:ext cx="1524000" cy="131445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9525">
            <a:solidFill>
              <a:srgbClr val="D9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5429250" y="2781300"/>
            <a:ext cx="66675" cy="1314450"/>
          </a:xfrm>
          <a:prstGeom prst="roundRect">
            <a:avLst>
              <a:gd fmla="val 50000" name="adj"/>
            </a:avLst>
          </a:prstGeom>
          <a:solidFill>
            <a:srgbClr val="5ED8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5638800" y="2933700"/>
            <a:ext cx="11620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EXPLAIN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5638800" y="3257550"/>
            <a:ext cx="1143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Evidence terms and experience themes.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7181850" y="2781300"/>
            <a:ext cx="1524000" cy="131445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 cap="flat" cmpd="sng" w="9525">
            <a:solidFill>
              <a:srgbClr val="D9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7181850" y="2781300"/>
            <a:ext cx="66675" cy="1314450"/>
          </a:xfrm>
          <a:prstGeom prst="roundRect">
            <a:avLst>
              <a:gd fmla="val 50000" name="adj"/>
            </a:avLst>
          </a:prstGeom>
          <a:solidFill>
            <a:srgbClr val="F5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7391400" y="2933700"/>
            <a:ext cx="11620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RETRIEVE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7391400" y="3257550"/>
            <a:ext cx="1143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Semantically similar patient experiences.</a:t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495300" y="4857750"/>
            <a:ext cx="6191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ISBA 2411 · Group 1 · MedReview Insight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6572250" y="4857750"/>
            <a:ext cx="2133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Research &amp; educational use only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AFB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>
            <a:off x="495300" y="2667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14A7A0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495300" y="485775"/>
            <a:ext cx="781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Data strategy: full source, focused experiments</a:t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495300" y="1009650"/>
            <a:ext cx="552450" cy="47625"/>
          </a:xfrm>
          <a:prstGeom prst="roundRect">
            <a:avLst>
              <a:gd fmla="val 50000" name="adj"/>
            </a:avLst>
          </a:prstGeom>
          <a:solidFill>
            <a:srgbClr val="FF62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8420100" y="323850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495300" y="1295400"/>
            <a:ext cx="8153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FULL DRUGS.COM SOURCE SPLIT</a:t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495300" y="1581150"/>
            <a:ext cx="2476500" cy="1066800"/>
          </a:xfrm>
          <a:prstGeom prst="roundRect">
            <a:avLst>
              <a:gd fmla="val 10714" name="adj"/>
            </a:avLst>
          </a:prstGeom>
          <a:solidFill>
            <a:srgbClr val="FFFFFF"/>
          </a:solidFill>
          <a:ln cap="flat" cmpd="sng" w="9525">
            <a:solidFill>
              <a:srgbClr val="D9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495300" y="1581150"/>
            <a:ext cx="2476500" cy="57150"/>
          </a:xfrm>
          <a:prstGeom prst="roundRect">
            <a:avLst>
              <a:gd fmla="val 50000" name="adj"/>
            </a:avLst>
          </a:prstGeom>
          <a:solidFill>
            <a:srgbClr val="0E45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666750" y="1752600"/>
            <a:ext cx="2133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7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ORIGINAL TRAINING FILE</a:t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666750" y="1952625"/>
            <a:ext cx="21336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161,297</a:t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666750" y="2362200"/>
            <a:ext cx="2133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patient-written reviews</a:t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3124200" y="1581150"/>
            <a:ext cx="2476500" cy="1066800"/>
          </a:xfrm>
          <a:prstGeom prst="roundRect">
            <a:avLst>
              <a:gd fmla="val 10714" name="adj"/>
            </a:avLst>
          </a:prstGeom>
          <a:solidFill>
            <a:srgbClr val="FFFFFF"/>
          </a:solidFill>
          <a:ln cap="flat" cmpd="sng" w="9525">
            <a:solidFill>
              <a:srgbClr val="D9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3124200" y="1581150"/>
            <a:ext cx="2476500" cy="57150"/>
          </a:xfrm>
          <a:prstGeom prst="roundRect">
            <a:avLst>
              <a:gd fmla="val 50000" name="adj"/>
            </a:avLst>
          </a:prstGeom>
          <a:solidFill>
            <a:srgbClr val="0E45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3295650" y="1752600"/>
            <a:ext cx="2133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7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ORIGINAL TEST FILE</a:t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3295650" y="1952625"/>
            <a:ext cx="21336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53,766</a:t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3295650" y="2362200"/>
            <a:ext cx="2133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held-out source reviews</a:t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5753100" y="1581150"/>
            <a:ext cx="2952750" cy="1066800"/>
          </a:xfrm>
          <a:prstGeom prst="roundRect">
            <a:avLst>
              <a:gd fmla="val 10714" name="adj"/>
            </a:avLst>
          </a:prstGeom>
          <a:solidFill>
            <a:srgbClr val="FFFFFF"/>
          </a:solidFill>
          <a:ln cap="flat" cmpd="sng" w="9525">
            <a:solidFill>
              <a:srgbClr val="D9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5753100" y="1581150"/>
            <a:ext cx="2952750" cy="57150"/>
          </a:xfrm>
          <a:prstGeom prst="roundRect">
            <a:avLst>
              <a:gd fmla="val 50000" name="adj"/>
            </a:avLst>
          </a:prstGeom>
          <a:solidFill>
            <a:srgbClr val="FF62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5924550" y="1752600"/>
            <a:ext cx="26098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7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SATISFACTION LABELS</a:t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5924550" y="1952625"/>
            <a:ext cx="2609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1–4 · 5–6 · 7–10</a:t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5924550" y="2362200"/>
            <a:ext cx="26098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Low · Medium · High</a:t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495300" y="2914650"/>
            <a:ext cx="8153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FINAL EXPERIMENT SAMPLES</a:t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495300" y="3200400"/>
            <a:ext cx="2476500" cy="1066800"/>
          </a:xfrm>
          <a:prstGeom prst="roundRect">
            <a:avLst>
              <a:gd fmla="val 10714" name="adj"/>
            </a:avLst>
          </a:prstGeom>
          <a:solidFill>
            <a:srgbClr val="FFFFFF"/>
          </a:solidFill>
          <a:ln cap="flat" cmpd="sng" w="9525">
            <a:solidFill>
              <a:srgbClr val="D9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495300" y="3200400"/>
            <a:ext cx="2476500" cy="57150"/>
          </a:xfrm>
          <a:prstGeom prst="roundRect">
            <a:avLst>
              <a:gd fmla="val 50000" name="adj"/>
            </a:avLst>
          </a:prstGeom>
          <a:solidFill>
            <a:srgbClr val="14A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666750" y="3371850"/>
            <a:ext cx="2133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7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CLASSIFIER TRAINING</a:t>
            </a: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666750" y="3571875"/>
            <a:ext cx="21336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90,000</a:t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666750" y="3981450"/>
            <a:ext cx="2133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reviews used to fit the model</a:t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3124200" y="3200400"/>
            <a:ext cx="2476500" cy="1066800"/>
          </a:xfrm>
          <a:prstGeom prst="roundRect">
            <a:avLst>
              <a:gd fmla="val 10714" name="adj"/>
            </a:avLst>
          </a:prstGeom>
          <a:solidFill>
            <a:srgbClr val="FFFFFF"/>
          </a:solidFill>
          <a:ln cap="flat" cmpd="sng" w="9525">
            <a:solidFill>
              <a:srgbClr val="D9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3124200" y="3200400"/>
            <a:ext cx="2476500" cy="57150"/>
          </a:xfrm>
          <a:prstGeom prst="roundRect">
            <a:avLst>
              <a:gd fmla="val 50000" name="adj"/>
            </a:avLst>
          </a:prstGeom>
          <a:solidFill>
            <a:srgbClr val="F5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3295650" y="3371850"/>
            <a:ext cx="2133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7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MODEL EVALUATION</a:t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3295650" y="3571875"/>
            <a:ext cx="21336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15,000</a:t>
            </a: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3295650" y="3981450"/>
            <a:ext cx="2133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reviews used for reported metrics</a:t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5753100" y="3200400"/>
            <a:ext cx="2952750" cy="1066800"/>
          </a:xfrm>
          <a:prstGeom prst="roundRect">
            <a:avLst>
              <a:gd fmla="val 10714" name="adj"/>
            </a:avLst>
          </a:prstGeom>
          <a:solidFill>
            <a:srgbClr val="FFFFFF"/>
          </a:solidFill>
          <a:ln cap="flat" cmpd="sng" w="9525">
            <a:solidFill>
              <a:srgbClr val="D9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"/>
          <p:cNvSpPr/>
          <p:nvPr/>
        </p:nvSpPr>
        <p:spPr>
          <a:xfrm>
            <a:off x="5753100" y="3200400"/>
            <a:ext cx="2952750" cy="57150"/>
          </a:xfrm>
          <a:prstGeom prst="roundRect">
            <a:avLst>
              <a:gd fmla="val 50000" name="adj"/>
            </a:avLst>
          </a:prstGeom>
          <a:solidFill>
            <a:srgbClr val="5ED8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5924550" y="3371850"/>
            <a:ext cx="26098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7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SEMANTIC LIBRARY</a:t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5924550" y="3571875"/>
            <a:ext cx="26098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35,000</a:t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5924550" y="3981450"/>
            <a:ext cx="26098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reviews embedded for retrieval</a:t>
            </a:r>
            <a:endParaRPr/>
          </a:p>
        </p:txBody>
      </p:sp>
      <p:sp>
        <p:nvSpPr>
          <p:cNvPr id="145" name="Google Shape;145;p3"/>
          <p:cNvSpPr/>
          <p:nvPr/>
        </p:nvSpPr>
        <p:spPr>
          <a:xfrm>
            <a:off x="495300" y="4857750"/>
            <a:ext cx="6191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Drugs.com Medication Reviews Dataset · project experiment sampling shown separately</a:t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6572250" y="4857750"/>
            <a:ext cx="2133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Research &amp; educational use only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AFB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"/>
          <p:cNvSpPr/>
          <p:nvPr/>
        </p:nvSpPr>
        <p:spPr>
          <a:xfrm>
            <a:off x="495300" y="2667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14A7A0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495300" y="485775"/>
            <a:ext cx="781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82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A two-model architecture—each model does what it does best</a:t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495300" y="1009650"/>
            <a:ext cx="552450" cy="47625"/>
          </a:xfrm>
          <a:prstGeom prst="roundRect">
            <a:avLst>
              <a:gd fmla="val 50000" name="adj"/>
            </a:avLst>
          </a:prstGeom>
          <a:solidFill>
            <a:srgbClr val="FF62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8420100" y="323850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495300" y="1562100"/>
            <a:ext cx="1885950" cy="22479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D9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495300" y="1562100"/>
            <a:ext cx="66675" cy="2247900"/>
          </a:xfrm>
          <a:prstGeom prst="roundRect">
            <a:avLst>
              <a:gd fmla="val 50000" name="adj"/>
            </a:avLst>
          </a:prstGeom>
          <a:solidFill>
            <a:srgbClr val="0E45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685800" y="1733550"/>
            <a:ext cx="304800" cy="304800"/>
          </a:xfrm>
          <a:prstGeom prst="ellipse">
            <a:avLst/>
          </a:prstGeom>
          <a:solidFill>
            <a:srgbClr val="0E45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685800" y="17335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1123950" y="1714500"/>
            <a:ext cx="1104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Prepare data</a:t>
            </a:r>
            <a:endParaRPr/>
          </a:p>
        </p:txBody>
      </p:sp>
      <p:sp>
        <p:nvSpPr>
          <p:cNvPr id="161" name="Google Shape;161;p4"/>
          <p:cNvSpPr/>
          <p:nvPr/>
        </p:nvSpPr>
        <p:spPr>
          <a:xfrm>
            <a:off x="1123950" y="2038350"/>
            <a:ext cx="10858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Clean text, handle missing context, remove unusably short reviews.</a:t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2571750" y="1562100"/>
            <a:ext cx="1885950" cy="22479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D9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2571750" y="1562100"/>
            <a:ext cx="66675" cy="2247900"/>
          </a:xfrm>
          <a:prstGeom prst="roundRect">
            <a:avLst>
              <a:gd fmla="val 50000" name="adj"/>
            </a:avLst>
          </a:prstGeom>
          <a:solidFill>
            <a:srgbClr val="14A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2762250" y="1733550"/>
            <a:ext cx="304800" cy="304800"/>
          </a:xfrm>
          <a:prstGeom prst="ellipse">
            <a:avLst/>
          </a:prstGeom>
          <a:solidFill>
            <a:srgbClr val="14A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2762250" y="17335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3200400" y="1714500"/>
            <a:ext cx="1104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Represent text</a:t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3200400" y="2038350"/>
            <a:ext cx="10858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Combine word-level and character-level TF-IDF features.</a:t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4648200" y="1562100"/>
            <a:ext cx="1885950" cy="22479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D9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4648200" y="1562100"/>
            <a:ext cx="66675" cy="2247900"/>
          </a:xfrm>
          <a:prstGeom prst="roundRect">
            <a:avLst>
              <a:gd fmla="val 50000" name="adj"/>
            </a:avLst>
          </a:prstGeom>
          <a:solidFill>
            <a:srgbClr val="FF62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4838700" y="1733550"/>
            <a:ext cx="304800" cy="304800"/>
          </a:xfrm>
          <a:prstGeom prst="ellipse">
            <a:avLst/>
          </a:prstGeom>
          <a:solidFill>
            <a:srgbClr val="FF62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4838700" y="17335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5276850" y="1714500"/>
            <a:ext cx="1104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Classify</a:t>
            </a: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5276850" y="2038350"/>
            <a:ext cx="10858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Balanced averaged SGD logistic classifier predicts 3 satisfaction classes.</a:t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6724650" y="1562100"/>
            <a:ext cx="1885950" cy="22479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D9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6724650" y="1562100"/>
            <a:ext cx="66675" cy="2247900"/>
          </a:xfrm>
          <a:prstGeom prst="roundRect">
            <a:avLst>
              <a:gd fmla="val 50000" name="adj"/>
            </a:avLst>
          </a:prstGeom>
          <a:solidFill>
            <a:srgbClr val="5ED8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6915150" y="1733550"/>
            <a:ext cx="304800" cy="304800"/>
          </a:xfrm>
          <a:prstGeom prst="ellipse">
            <a:avLst/>
          </a:prstGeom>
          <a:solidFill>
            <a:srgbClr val="5ED8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6915150" y="17335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7353300" y="1714500"/>
            <a:ext cx="1104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7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Retrieve + ground</a:t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7353300" y="2038350"/>
            <a:ext cx="10858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MiniLM embeddings find similar reviews and surface supporting evidence.</a:t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1143000" y="4038600"/>
            <a:ext cx="6858000" cy="400050"/>
          </a:xfrm>
          <a:prstGeom prst="roundRect">
            <a:avLst>
              <a:gd fmla="val 28571" name="adj"/>
            </a:avLst>
          </a:prstGeom>
          <a:solidFill>
            <a:srgbClr val="E4F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1333500" y="4038600"/>
            <a:ext cx="6477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TF-IDF = strongest classifier    ·    MiniLM = semantic retrieval layer</a:t>
            </a: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495300" y="4857750"/>
            <a:ext cx="6191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ISBA 2411 · Group 1 · MedReview Insight</a:t>
            </a: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6572250" y="4857750"/>
            <a:ext cx="2133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Research &amp; educational use only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AFB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"/>
          <p:cNvSpPr/>
          <p:nvPr/>
        </p:nvSpPr>
        <p:spPr>
          <a:xfrm>
            <a:off x="495300" y="2667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14A7A0"/>
                </a:solidFill>
                <a:latin typeface="Arial"/>
                <a:ea typeface="Arial"/>
                <a:cs typeface="Arial"/>
                <a:sym typeface="Arial"/>
              </a:rPr>
              <a:t>MODEL PERFORMANCE</a:t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495300" y="485775"/>
            <a:ext cx="781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Hybrid TF-IDF clearly outperformed the alternatives</a:t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495300" y="1009650"/>
            <a:ext cx="552450" cy="47625"/>
          </a:xfrm>
          <a:prstGeom prst="roundRect">
            <a:avLst>
              <a:gd fmla="val 50000" name="adj"/>
            </a:avLst>
          </a:prstGeom>
          <a:solidFill>
            <a:srgbClr val="FF62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8420100" y="323850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495300" y="1371600"/>
            <a:ext cx="5696100" cy="28575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D9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94" name="Google Shape;194;p5"/>
          <p:cNvGraphicFramePr/>
          <p:nvPr/>
        </p:nvGraphicFramePr>
        <p:xfrm>
          <a:off x="742950" y="1657350"/>
          <a:ext cx="5143500" cy="22098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95" name="Google Shape;195;p5"/>
          <p:cNvSpPr/>
          <p:nvPr/>
        </p:nvSpPr>
        <p:spPr>
          <a:xfrm>
            <a:off x="6438900" y="1371600"/>
            <a:ext cx="2267100" cy="1352700"/>
          </a:xfrm>
          <a:prstGeom prst="roundRect">
            <a:avLst>
              <a:gd fmla="val 8451" name="adj"/>
            </a:avLst>
          </a:prstGeom>
          <a:solidFill>
            <a:srgbClr val="E3F6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6667500" y="1504950"/>
            <a:ext cx="1809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14A7A0"/>
                </a:solidFill>
                <a:latin typeface="Arial"/>
                <a:ea typeface="Arial"/>
                <a:cs typeface="Arial"/>
                <a:sym typeface="Arial"/>
              </a:rPr>
              <a:t>+17.4</a:t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6667500" y="2000250"/>
            <a:ext cx="1809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5354A"/>
                </a:solidFill>
                <a:latin typeface="Arial"/>
                <a:ea typeface="Arial"/>
                <a:cs typeface="Arial"/>
                <a:sym typeface="Arial"/>
              </a:rPr>
              <a:t>percentage points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5354A"/>
                </a:solidFill>
                <a:latin typeface="Arial"/>
                <a:ea typeface="Arial"/>
                <a:cs typeface="Arial"/>
                <a:sym typeface="Arial"/>
              </a:rPr>
              <a:t>over the majority baseline</a:t>
            </a: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6438900" y="2895600"/>
            <a:ext cx="2266950" cy="133350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9525">
            <a:solidFill>
              <a:srgbClr val="D9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6438900" y="2895600"/>
            <a:ext cx="66675" cy="1333500"/>
          </a:xfrm>
          <a:prstGeom prst="roundRect">
            <a:avLst>
              <a:gd fmla="val 50000" name="adj"/>
            </a:avLst>
          </a:prstGeom>
          <a:solidFill>
            <a:srgbClr val="F5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6648450" y="3048000"/>
            <a:ext cx="190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Why Macro-F1 matters</a:t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6648450" y="3371850"/>
            <a:ext cx="18859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The medium class is rare, so accuracy alone can hide poor minority-class performance.</a:t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495300" y="4438650"/>
            <a:ext cx="5696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Reported on the 15,000-review evaluation sample.</a:t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495300" y="4857750"/>
            <a:ext cx="6191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ISBA 2411 · Group 1 · MedReview Insight</a:t>
            </a: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6572250" y="4857750"/>
            <a:ext cx="2133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Research &amp; educational use only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AFB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"/>
          <p:cNvSpPr/>
          <p:nvPr/>
        </p:nvSpPr>
        <p:spPr>
          <a:xfrm>
            <a:off x="495300" y="2667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14A7A0"/>
                </a:solidFill>
                <a:latin typeface="Arial"/>
                <a:ea typeface="Arial"/>
                <a:cs typeface="Arial"/>
                <a:sym typeface="Arial"/>
              </a:rPr>
              <a:t>SYSTEM WORKFLOW</a:t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495300" y="485775"/>
            <a:ext cx="781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The application turns a prediction into an evidence trail</a:t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495300" y="1009650"/>
            <a:ext cx="552450" cy="47625"/>
          </a:xfrm>
          <a:prstGeom prst="roundRect">
            <a:avLst>
              <a:gd fmla="val 50000" name="adj"/>
            </a:avLst>
          </a:prstGeom>
          <a:solidFill>
            <a:srgbClr val="FF62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8420100" y="323850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495300" y="1581150"/>
            <a:ext cx="1885950" cy="22479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D9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495300" y="1581150"/>
            <a:ext cx="66675" cy="2247900"/>
          </a:xfrm>
          <a:prstGeom prst="roundRect">
            <a:avLst>
              <a:gd fmla="val 50000" name="adj"/>
            </a:avLst>
          </a:prstGeom>
          <a:solidFill>
            <a:srgbClr val="14A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685800" y="1752600"/>
            <a:ext cx="304800" cy="304800"/>
          </a:xfrm>
          <a:prstGeom prst="ellipse">
            <a:avLst/>
          </a:prstGeom>
          <a:solidFill>
            <a:srgbClr val="14A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685800" y="1752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1123950" y="1733550"/>
            <a:ext cx="1104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Analyze</a:t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1123950" y="2057400"/>
            <a:ext cx="10858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Drug + condition + review → satisfaction prediction and confidence.</a:t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2343150" y="2457450"/>
            <a:ext cx="228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2571750" y="1581150"/>
            <a:ext cx="1885950" cy="22479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D9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2571750" y="1581150"/>
            <a:ext cx="66675" cy="2247900"/>
          </a:xfrm>
          <a:prstGeom prst="roundRect">
            <a:avLst>
              <a:gd fmla="val 50000" name="adj"/>
            </a:avLst>
          </a:prstGeom>
          <a:solidFill>
            <a:srgbClr val="FF62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2762250" y="1752600"/>
            <a:ext cx="304800" cy="304800"/>
          </a:xfrm>
          <a:prstGeom prst="ellipse">
            <a:avLst/>
          </a:prstGeom>
          <a:solidFill>
            <a:srgbClr val="FF62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2762250" y="1752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3200400" y="1733550"/>
            <a:ext cx="1104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Explain</a:t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3200400" y="2057400"/>
            <a:ext cx="10858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Highlight evidence terms and patient-experience themes.</a:t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4419600" y="2457450"/>
            <a:ext cx="228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4648200" y="1581150"/>
            <a:ext cx="1885950" cy="22479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D9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4648200" y="1581150"/>
            <a:ext cx="66675" cy="2247900"/>
          </a:xfrm>
          <a:prstGeom prst="roundRect">
            <a:avLst>
              <a:gd fmla="val 50000" name="adj"/>
            </a:avLst>
          </a:prstGeom>
          <a:solidFill>
            <a:srgbClr val="5ED8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4838700" y="1752600"/>
            <a:ext cx="304800" cy="304800"/>
          </a:xfrm>
          <a:prstGeom prst="ellipse">
            <a:avLst/>
          </a:prstGeom>
          <a:solidFill>
            <a:srgbClr val="5ED8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4838700" y="1752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5276850" y="1733550"/>
            <a:ext cx="1104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Retrieve</a:t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5276850" y="2057400"/>
            <a:ext cx="10858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Find semantically similar reviews with MiniLM embeddings.</a:t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6496050" y="2457450"/>
            <a:ext cx="228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6724650" y="1581150"/>
            <a:ext cx="1885950" cy="22479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9525">
            <a:solidFill>
              <a:srgbClr val="D9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6724650" y="1581150"/>
            <a:ext cx="66675" cy="2247900"/>
          </a:xfrm>
          <a:prstGeom prst="roundRect">
            <a:avLst>
              <a:gd fmla="val 50000" name="adj"/>
            </a:avLst>
          </a:prstGeom>
          <a:solidFill>
            <a:srgbClr val="F5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6915150" y="1752600"/>
            <a:ext cx="304800" cy="304800"/>
          </a:xfrm>
          <a:prstGeom prst="ellipse">
            <a:avLst/>
          </a:prstGeom>
          <a:solidFill>
            <a:srgbClr val="F5B9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6915150" y="1752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7353300" y="1733550"/>
            <a:ext cx="1104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Ground</a:t>
            </a: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7353300" y="2057400"/>
            <a:ext cx="10858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Answer follow-ups using retrieved evidence and safety guardrails.</a:t>
            </a: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1676400" y="4076700"/>
            <a:ext cx="5791200" cy="361950"/>
          </a:xfrm>
          <a:prstGeom prst="roundRect">
            <a:avLst>
              <a:gd fmla="val 31579" name="adj"/>
            </a:avLst>
          </a:prstGeom>
          <a:solidFill>
            <a:srgbClr val="FFF6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1847850" y="4076700"/>
            <a:ext cx="54483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5354A"/>
                </a:solidFill>
                <a:latin typeface="Arial"/>
                <a:ea typeface="Arial"/>
                <a:cs typeface="Arial"/>
                <a:sym typeface="Arial"/>
              </a:rPr>
              <a:t>Research tool—not a diagnosis, prescription, or treatment recommendation.</a:t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495300" y="4857750"/>
            <a:ext cx="6191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ISBA 2411 · Group 1 · MedReview Insight</a:t>
            </a: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6572250" y="4857750"/>
            <a:ext cx="2133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Research &amp; educational use only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AFB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"/>
          <p:cNvSpPr/>
          <p:nvPr/>
        </p:nvSpPr>
        <p:spPr>
          <a:xfrm>
            <a:off x="495300" y="2667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14A7A0"/>
                </a:solidFill>
                <a:latin typeface="Arial"/>
                <a:ea typeface="Arial"/>
                <a:cs typeface="Arial"/>
                <a:sym typeface="Arial"/>
              </a:rPr>
              <a:t>KEY FINDINGS</a:t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495300" y="485775"/>
            <a:ext cx="781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Three findings shaped the final product</a:t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495300" y="1009650"/>
            <a:ext cx="552450" cy="47625"/>
          </a:xfrm>
          <a:prstGeom prst="roundRect">
            <a:avLst>
              <a:gd fmla="val 50000" name="adj"/>
            </a:avLst>
          </a:prstGeom>
          <a:solidFill>
            <a:srgbClr val="FF62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8420100" y="323850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495300" y="1428750"/>
            <a:ext cx="2571750" cy="262890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9525">
            <a:solidFill>
              <a:srgbClr val="D9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495300" y="1428750"/>
            <a:ext cx="66675" cy="2628900"/>
          </a:xfrm>
          <a:prstGeom prst="roundRect">
            <a:avLst>
              <a:gd fmla="val 50000" name="adj"/>
            </a:avLst>
          </a:prstGeom>
          <a:solidFill>
            <a:srgbClr val="14A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704850" y="1581150"/>
            <a:ext cx="2209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1 · Representation matters</a:t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704850" y="1905000"/>
            <a:ext cx="219075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Hybrid word + character TF-IDF was the strongest satisfaction classifier, improving accuracy by 17.4 points over the majority baseline.</a:t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3286125" y="1428750"/>
            <a:ext cx="2571750" cy="262890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9525">
            <a:solidFill>
              <a:srgbClr val="D9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3286125" y="1428750"/>
            <a:ext cx="66675" cy="2628900"/>
          </a:xfrm>
          <a:prstGeom prst="roundRect">
            <a:avLst>
              <a:gd fmla="val 50000" name="adj"/>
            </a:avLst>
          </a:prstGeom>
          <a:solidFill>
            <a:srgbClr val="5ED8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3495675" y="1581150"/>
            <a:ext cx="2209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3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2 · One model need not do everything</a:t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3495675" y="1905000"/>
            <a:ext cx="219075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MiniLM underperformed for classification but added useful meaning-based retrieval of related patient experiences.</a:t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6076950" y="1428750"/>
            <a:ext cx="2628900" cy="2628900"/>
          </a:xfrm>
          <a:prstGeom prst="roundRect">
            <a:avLst>
              <a:gd fmla="val 4348" name="adj"/>
            </a:avLst>
          </a:prstGeom>
          <a:solidFill>
            <a:srgbClr val="FFFFFF"/>
          </a:solidFill>
          <a:ln cap="flat" cmpd="sng" w="9525">
            <a:solidFill>
              <a:srgbClr val="D9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6076950" y="1428750"/>
            <a:ext cx="66675" cy="2628900"/>
          </a:xfrm>
          <a:prstGeom prst="roundRect">
            <a:avLst>
              <a:gd fmla="val 50000" name="adj"/>
            </a:avLst>
          </a:prstGeom>
          <a:solidFill>
            <a:srgbClr val="FF62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6286500" y="1581150"/>
            <a:ext cx="2266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3 · Evidence improves trust</a:t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6286500" y="1905000"/>
            <a:ext cx="2247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Class probabilities, evidence terms, themes, and retrieved reviews make the result easier to inspect than a black-box label.</a:t>
            </a:r>
            <a:endParaRPr/>
          </a:p>
        </p:txBody>
      </p:sp>
      <p:sp>
        <p:nvSpPr>
          <p:cNvPr id="266" name="Google Shape;266;p8"/>
          <p:cNvSpPr/>
          <p:nvPr/>
        </p:nvSpPr>
        <p:spPr>
          <a:xfrm>
            <a:off x="495300" y="4857750"/>
            <a:ext cx="6191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ISBA 2411 · Group 1 · MedReview Insight</a:t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6572250" y="4857750"/>
            <a:ext cx="2133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Research &amp; educational use only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AFB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"/>
          <p:cNvSpPr/>
          <p:nvPr/>
        </p:nvSpPr>
        <p:spPr>
          <a:xfrm>
            <a:off x="495300" y="2667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14A7A0"/>
                </a:solidFill>
                <a:latin typeface="Arial"/>
                <a:ea typeface="Arial"/>
                <a:cs typeface="Arial"/>
                <a:sym typeface="Arial"/>
              </a:rPr>
              <a:t>LIMITATIONS &amp; FUTURE WORK</a:t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495300" y="485775"/>
            <a:ext cx="781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What remains unresolved—and where we go next</a:t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495300" y="1009650"/>
            <a:ext cx="552450" cy="47625"/>
          </a:xfrm>
          <a:prstGeom prst="roundRect">
            <a:avLst>
              <a:gd fmla="val 50000" name="adj"/>
            </a:avLst>
          </a:prstGeom>
          <a:solidFill>
            <a:srgbClr val="FF62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8420100" y="323850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495300" y="1333500"/>
            <a:ext cx="3714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FF625F"/>
                </a:solidFill>
                <a:latin typeface="Arial"/>
                <a:ea typeface="Arial"/>
                <a:cs typeface="Arial"/>
                <a:sym typeface="Arial"/>
              </a:rPr>
              <a:t>CURRENT LIMITATIONS</a:t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495300" y="1619250"/>
            <a:ext cx="3714750" cy="781050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9525">
            <a:solidFill>
              <a:srgbClr val="D9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495300" y="1619250"/>
            <a:ext cx="66675" cy="781050"/>
          </a:xfrm>
          <a:prstGeom prst="roundRect">
            <a:avLst>
              <a:gd fmla="val 50000" name="adj"/>
            </a:avLst>
          </a:prstGeom>
          <a:solidFill>
            <a:srgbClr val="FF62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704850" y="1771650"/>
            <a:ext cx="3352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Medium class is hardest</a:t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704850" y="2095500"/>
            <a:ext cx="3333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Ratings 5–6 often describe mixed, ambiguous experiences.</a:t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495300" y="2514600"/>
            <a:ext cx="3714750" cy="781050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9525">
            <a:solidFill>
              <a:srgbClr val="D9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495300" y="2514600"/>
            <a:ext cx="66675" cy="781050"/>
          </a:xfrm>
          <a:prstGeom prst="roundRect">
            <a:avLst>
              <a:gd fmla="val 50000" name="adj"/>
            </a:avLst>
          </a:prstGeom>
          <a:solidFill>
            <a:srgbClr val="FF62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704850" y="2667000"/>
            <a:ext cx="3352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Patient reviews are noisy</a:t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704850" y="2990850"/>
            <a:ext cx="3333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8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Subjectivity, misspellings, bias, sarcasm, and missing context remain.</a:t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495300" y="3409950"/>
            <a:ext cx="3714750" cy="781050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9525">
            <a:solidFill>
              <a:srgbClr val="D9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495300" y="3409950"/>
            <a:ext cx="66675" cy="781050"/>
          </a:xfrm>
          <a:prstGeom prst="roundRect">
            <a:avLst>
              <a:gd fmla="val 50000" name="adj"/>
            </a:avLst>
          </a:prstGeom>
          <a:solidFill>
            <a:srgbClr val="FF62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704850" y="3562350"/>
            <a:ext cx="3352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Not clinical evidence</a:t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704850" y="3886200"/>
            <a:ext cx="3333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99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Predictions summarize patient-reported experiences—not medical advice.</a:t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4686300" y="1333500"/>
            <a:ext cx="40195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14A7A0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4686300" y="1619250"/>
            <a:ext cx="4019550" cy="781050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9525">
            <a:solidFill>
              <a:srgbClr val="D9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4686300" y="1619250"/>
            <a:ext cx="66675" cy="781050"/>
          </a:xfrm>
          <a:prstGeom prst="roundRect">
            <a:avLst>
              <a:gd fmla="val 50000" name="adj"/>
            </a:avLst>
          </a:prstGeom>
          <a:solidFill>
            <a:srgbClr val="14A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4895850" y="1771650"/>
            <a:ext cx="3657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Calibrate probabilities</a:t>
            </a:r>
            <a:endParaRPr/>
          </a:p>
        </p:txBody>
      </p:sp>
      <p:sp>
        <p:nvSpPr>
          <p:cNvPr id="294" name="Google Shape;294;p9"/>
          <p:cNvSpPr/>
          <p:nvPr/>
        </p:nvSpPr>
        <p:spPr>
          <a:xfrm>
            <a:off x="4895850" y="2095500"/>
            <a:ext cx="36385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Make confidence scores better aligned with observed accuracy.</a:t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4686300" y="2514600"/>
            <a:ext cx="4019550" cy="781050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9525">
            <a:solidFill>
              <a:srgbClr val="D9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4686300" y="2514600"/>
            <a:ext cx="66675" cy="781050"/>
          </a:xfrm>
          <a:prstGeom prst="roundRect">
            <a:avLst>
              <a:gd fmla="val 50000" name="adj"/>
            </a:avLst>
          </a:prstGeom>
          <a:solidFill>
            <a:srgbClr val="14A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4895850" y="2667000"/>
            <a:ext cx="3657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Evaluate subgroups</a:t>
            </a: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4895850" y="2990850"/>
            <a:ext cx="36385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Measure performance by medication, condition, and confidence band.</a:t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4686300" y="3409950"/>
            <a:ext cx="4019550" cy="781050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9525">
            <a:solidFill>
              <a:srgbClr val="D9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4686300" y="3409950"/>
            <a:ext cx="66675" cy="781050"/>
          </a:xfrm>
          <a:prstGeom prst="roundRect">
            <a:avLst>
              <a:gd fmla="val 50000" name="adj"/>
            </a:avLst>
          </a:prstGeom>
          <a:solidFill>
            <a:srgbClr val="14A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4895850" y="3562350"/>
            <a:ext cx="3657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Audit retrieval quality</a:t>
            </a:r>
            <a:endParaRPr/>
          </a:p>
        </p:txBody>
      </p:sp>
      <p:sp>
        <p:nvSpPr>
          <p:cNvPr id="302" name="Google Shape;302;p9"/>
          <p:cNvSpPr/>
          <p:nvPr/>
        </p:nvSpPr>
        <p:spPr>
          <a:xfrm>
            <a:off x="4895850" y="3886200"/>
            <a:ext cx="36385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Review high-confidence errors and the relevance of retrieved evidence.</a:t>
            </a: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495300" y="4857750"/>
            <a:ext cx="6191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ISBA 2411 · Group 1 · MedReview Insight</a:t>
            </a:r>
            <a:endParaRPr/>
          </a:p>
        </p:txBody>
      </p:sp>
      <p:sp>
        <p:nvSpPr>
          <p:cNvPr id="304" name="Google Shape;304;p9"/>
          <p:cNvSpPr/>
          <p:nvPr/>
        </p:nvSpPr>
        <p:spPr>
          <a:xfrm>
            <a:off x="6572250" y="4857750"/>
            <a:ext cx="2133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Research &amp; educational use only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2B45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0"/>
          <p:cNvSpPr/>
          <p:nvPr/>
        </p:nvSpPr>
        <p:spPr>
          <a:xfrm>
            <a:off x="0" y="3429000"/>
            <a:ext cx="1714500" cy="1714500"/>
          </a:xfrm>
          <a:prstGeom prst="ellipse">
            <a:avLst/>
          </a:prstGeom>
          <a:solidFill>
            <a:srgbClr val="0E71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7429500" y="0"/>
            <a:ext cx="1714500" cy="1714500"/>
          </a:xfrm>
          <a:prstGeom prst="ellipse">
            <a:avLst/>
          </a:prstGeom>
          <a:solidFill>
            <a:srgbClr val="1598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2" name="Google Shape;31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750" y="6953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0"/>
          <p:cNvSpPr/>
          <p:nvPr/>
        </p:nvSpPr>
        <p:spPr>
          <a:xfrm>
            <a:off x="1219200" y="685800"/>
            <a:ext cx="51435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MedReview Insight</a:t>
            </a:r>
            <a:endParaRPr/>
          </a:p>
        </p:txBody>
      </p:sp>
      <p:sp>
        <p:nvSpPr>
          <p:cNvPr id="314" name="Google Shape;314;p10"/>
          <p:cNvSpPr/>
          <p:nvPr/>
        </p:nvSpPr>
        <p:spPr>
          <a:xfrm>
            <a:off x="666750" y="1581150"/>
            <a:ext cx="7239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right model for each task.</a:t>
            </a: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666750" y="2247900"/>
            <a:ext cx="73342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D5EDF0"/>
                </a:solidFill>
                <a:latin typeface="Arial"/>
                <a:ea typeface="Arial"/>
                <a:cs typeface="Arial"/>
                <a:sym typeface="Arial"/>
              </a:rPr>
              <a:t>Hybrid TF-IDF delivered the strongest satisfaction classification.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D5EDF0"/>
                </a:solidFill>
                <a:latin typeface="Arial"/>
                <a:ea typeface="Arial"/>
                <a:cs typeface="Arial"/>
                <a:sym typeface="Arial"/>
              </a:rPr>
              <a:t>MiniLM added semantic retrieval and transparent supporting evidence.</a:t>
            </a:r>
            <a:endParaRPr/>
          </a:p>
        </p:txBody>
      </p:sp>
      <p:sp>
        <p:nvSpPr>
          <p:cNvPr id="316" name="Google Shape;316;p10"/>
          <p:cNvSpPr/>
          <p:nvPr/>
        </p:nvSpPr>
        <p:spPr>
          <a:xfrm>
            <a:off x="666750" y="3371850"/>
            <a:ext cx="7810500" cy="552450"/>
          </a:xfrm>
          <a:prstGeom prst="roundRect">
            <a:avLst>
              <a:gd fmla="val 20690" name="adj"/>
            </a:avLst>
          </a:prstGeom>
          <a:solidFill>
            <a:srgbClr val="123F59"/>
          </a:solidFill>
          <a:ln cap="flat" cmpd="sng" w="9525">
            <a:solidFill>
              <a:srgbClr val="3D6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895350" y="3371850"/>
            <a:ext cx="73533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practical NLP system for exploring patient experiences—not making clinical decisions.</a:t>
            </a:r>
            <a:endParaRPr/>
          </a:p>
        </p:txBody>
      </p:sp>
      <p:sp>
        <p:nvSpPr>
          <p:cNvPr id="318" name="Google Shape;318;p10"/>
          <p:cNvSpPr/>
          <p:nvPr/>
        </p:nvSpPr>
        <p:spPr>
          <a:xfrm>
            <a:off x="6096000" y="4362450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ISBA 2411 · Group 1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AFB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7"/>
          <p:cNvSpPr/>
          <p:nvPr/>
        </p:nvSpPr>
        <p:spPr>
          <a:xfrm>
            <a:off x="495300" y="2667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">
                <a:solidFill>
                  <a:srgbClr val="14A7A0"/>
                </a:solidFill>
                <a:latin typeface="Arial"/>
                <a:ea typeface="Arial"/>
                <a:cs typeface="Arial"/>
                <a:sym typeface="Arial"/>
              </a:rPr>
              <a:t>APPLICATION PREVIEW</a:t>
            </a:r>
            <a:endParaRPr/>
          </a:p>
        </p:txBody>
      </p:sp>
      <p:sp>
        <p:nvSpPr>
          <p:cNvPr id="325" name="Google Shape;325;p7"/>
          <p:cNvSpPr/>
          <p:nvPr/>
        </p:nvSpPr>
        <p:spPr>
          <a:xfrm>
            <a:off x="495300" y="485775"/>
            <a:ext cx="781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Presentation-ready interface—with a live-demo fallback</a:t>
            </a:r>
            <a:endParaRPr/>
          </a:p>
        </p:txBody>
      </p:sp>
      <p:sp>
        <p:nvSpPr>
          <p:cNvPr id="326" name="Google Shape;326;p7"/>
          <p:cNvSpPr/>
          <p:nvPr/>
        </p:nvSpPr>
        <p:spPr>
          <a:xfrm>
            <a:off x="495300" y="1009650"/>
            <a:ext cx="552450" cy="47625"/>
          </a:xfrm>
          <a:prstGeom prst="roundRect">
            <a:avLst>
              <a:gd fmla="val 50000" name="adj"/>
            </a:avLst>
          </a:prstGeom>
          <a:solidFill>
            <a:srgbClr val="FF62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7"/>
          <p:cNvSpPr/>
          <p:nvPr/>
        </p:nvSpPr>
        <p:spPr>
          <a:xfrm>
            <a:off x="8420100" y="323850"/>
            <a:ext cx="285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328" name="Google Shape;328;p7"/>
          <p:cNvSpPr/>
          <p:nvPr/>
        </p:nvSpPr>
        <p:spPr>
          <a:xfrm>
            <a:off x="457200" y="1200150"/>
            <a:ext cx="6591300" cy="3352800"/>
          </a:xfrm>
          <a:prstGeom prst="roundRect">
            <a:avLst>
              <a:gd fmla="val 3409" name="adj"/>
            </a:avLst>
          </a:prstGeom>
          <a:solidFill>
            <a:srgbClr val="FFFFFF"/>
          </a:solidFill>
          <a:ln cap="flat" cmpd="sng" w="9525">
            <a:solidFill>
              <a:srgbClr val="D9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9" name="Google Shape;329;p7"/>
          <p:cNvPicPr preferRelativeResize="0"/>
          <p:nvPr/>
        </p:nvPicPr>
        <p:blipFill rotWithShape="1">
          <a:blip r:embed="rId3">
            <a:alphaModFix/>
          </a:blip>
          <a:srcRect b="12009" l="0" r="0" t="12009"/>
          <a:stretch/>
        </p:blipFill>
        <p:spPr>
          <a:xfrm>
            <a:off x="552450" y="1295400"/>
            <a:ext cx="6400800" cy="3162300"/>
          </a:xfrm>
          <a:prstGeom prst="roundRect">
            <a:avLst>
              <a:gd fmla="val 2410" name="adj"/>
            </a:avLst>
          </a:prstGeom>
          <a:noFill/>
          <a:ln>
            <a:noFill/>
          </a:ln>
        </p:spPr>
      </p:pic>
      <p:sp>
        <p:nvSpPr>
          <p:cNvPr id="330" name="Google Shape;330;p7"/>
          <p:cNvSpPr/>
          <p:nvPr/>
        </p:nvSpPr>
        <p:spPr>
          <a:xfrm>
            <a:off x="7277100" y="1200150"/>
            <a:ext cx="1428750" cy="552450"/>
          </a:xfrm>
          <a:prstGeom prst="roundRect">
            <a:avLst>
              <a:gd fmla="val 20690" name="adj"/>
            </a:avLst>
          </a:prstGeom>
          <a:solidFill>
            <a:srgbClr val="14A7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7"/>
          <p:cNvSpPr/>
          <p:nvPr/>
        </p:nvSpPr>
        <p:spPr>
          <a:xfrm>
            <a:off x="7410450" y="1200150"/>
            <a:ext cx="11620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DEMO</a:t>
            </a:r>
            <a:endParaRPr/>
          </a:p>
        </p:txBody>
      </p:sp>
      <p:sp>
        <p:nvSpPr>
          <p:cNvPr id="332" name="Google Shape;332;p7"/>
          <p:cNvSpPr/>
          <p:nvPr/>
        </p:nvSpPr>
        <p:spPr>
          <a:xfrm>
            <a:off x="7277100" y="1924050"/>
            <a:ext cx="1428750" cy="1066800"/>
          </a:xfrm>
          <a:prstGeom prst="roundRect">
            <a:avLst>
              <a:gd fmla="val 10714" name="adj"/>
            </a:avLst>
          </a:prstGeom>
          <a:solidFill>
            <a:srgbClr val="FFFFFF"/>
          </a:solidFill>
          <a:ln cap="flat" cmpd="sng" w="9525">
            <a:solidFill>
              <a:srgbClr val="D9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7"/>
          <p:cNvSpPr/>
          <p:nvPr/>
        </p:nvSpPr>
        <p:spPr>
          <a:xfrm>
            <a:off x="7277100" y="1924050"/>
            <a:ext cx="66675" cy="1066800"/>
          </a:xfrm>
          <a:prstGeom prst="roundRect">
            <a:avLst>
              <a:gd fmla="val 50000" name="adj"/>
            </a:avLst>
          </a:prstGeom>
          <a:solidFill>
            <a:srgbClr val="0E45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7"/>
          <p:cNvSpPr/>
          <p:nvPr/>
        </p:nvSpPr>
        <p:spPr>
          <a:xfrm>
            <a:off x="7486650" y="2076450"/>
            <a:ext cx="1066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1 · Input</a:t>
            </a:r>
            <a:endParaRPr/>
          </a:p>
        </p:txBody>
      </p:sp>
      <p:sp>
        <p:nvSpPr>
          <p:cNvPr id="335" name="Google Shape;335;p7"/>
          <p:cNvSpPr/>
          <p:nvPr/>
        </p:nvSpPr>
        <p:spPr>
          <a:xfrm>
            <a:off x="7486650" y="2400300"/>
            <a:ext cx="1047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Medication, condition, and patient review.</a:t>
            </a:r>
            <a:endParaRPr/>
          </a:p>
        </p:txBody>
      </p:sp>
      <p:sp>
        <p:nvSpPr>
          <p:cNvPr id="336" name="Google Shape;336;p7"/>
          <p:cNvSpPr/>
          <p:nvPr/>
        </p:nvSpPr>
        <p:spPr>
          <a:xfrm>
            <a:off x="7277100" y="3105150"/>
            <a:ext cx="1428750" cy="1066800"/>
          </a:xfrm>
          <a:prstGeom prst="roundRect">
            <a:avLst>
              <a:gd fmla="val 10714" name="adj"/>
            </a:avLst>
          </a:prstGeom>
          <a:solidFill>
            <a:srgbClr val="FFFFFF"/>
          </a:solidFill>
          <a:ln cap="flat" cmpd="sng" w="9525">
            <a:solidFill>
              <a:srgbClr val="D9E9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7"/>
          <p:cNvSpPr/>
          <p:nvPr/>
        </p:nvSpPr>
        <p:spPr>
          <a:xfrm>
            <a:off x="7277100" y="3105150"/>
            <a:ext cx="66675" cy="1066800"/>
          </a:xfrm>
          <a:prstGeom prst="roundRect">
            <a:avLst>
              <a:gd fmla="val 50000" name="adj"/>
            </a:avLst>
          </a:prstGeom>
          <a:solidFill>
            <a:srgbClr val="FF62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7"/>
          <p:cNvSpPr/>
          <p:nvPr/>
        </p:nvSpPr>
        <p:spPr>
          <a:xfrm>
            <a:off x="7486650" y="3257550"/>
            <a:ext cx="1066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82B45"/>
                </a:solidFill>
                <a:latin typeface="Arial"/>
                <a:ea typeface="Arial"/>
                <a:cs typeface="Arial"/>
                <a:sym typeface="Arial"/>
              </a:rPr>
              <a:t>2 · Analyze</a:t>
            </a:r>
            <a:endParaRPr/>
          </a:p>
        </p:txBody>
      </p:sp>
      <p:sp>
        <p:nvSpPr>
          <p:cNvPr id="339" name="Google Shape;339;p7"/>
          <p:cNvSpPr/>
          <p:nvPr/>
        </p:nvSpPr>
        <p:spPr>
          <a:xfrm>
            <a:off x="7486650" y="3581400"/>
            <a:ext cx="1047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Prediction, explanation, and similar reviews.</a:t>
            </a:r>
            <a:endParaRPr/>
          </a:p>
        </p:txBody>
      </p:sp>
      <p:sp>
        <p:nvSpPr>
          <p:cNvPr id="340" name="Google Shape;340;p7"/>
          <p:cNvSpPr/>
          <p:nvPr/>
        </p:nvSpPr>
        <p:spPr>
          <a:xfrm>
            <a:off x="7277100" y="4286250"/>
            <a:ext cx="1428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If Colab is unavailable, present this screenshot and continue the story.</a:t>
            </a:r>
            <a:endParaRPr/>
          </a:p>
        </p:txBody>
      </p:sp>
      <p:sp>
        <p:nvSpPr>
          <p:cNvPr id="341" name="Google Shape;341;p7"/>
          <p:cNvSpPr/>
          <p:nvPr/>
        </p:nvSpPr>
        <p:spPr>
          <a:xfrm>
            <a:off x="495300" y="4857750"/>
            <a:ext cx="61912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ISBA 2411 · Group 1 · MedReview Insight</a:t>
            </a:r>
            <a:endParaRPr/>
          </a:p>
        </p:txBody>
      </p:sp>
      <p:sp>
        <p:nvSpPr>
          <p:cNvPr id="342" name="Google Shape;342;p7"/>
          <p:cNvSpPr/>
          <p:nvPr/>
        </p:nvSpPr>
        <p:spPr>
          <a:xfrm>
            <a:off x="6572250" y="4857750"/>
            <a:ext cx="2133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75">
                <a:solidFill>
                  <a:srgbClr val="668091"/>
                </a:solidFill>
                <a:latin typeface="Arial"/>
                <a:ea typeface="Arial"/>
                <a:cs typeface="Arial"/>
                <a:sym typeface="Arial"/>
              </a:rPr>
              <a:t>Research &amp; educational use only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